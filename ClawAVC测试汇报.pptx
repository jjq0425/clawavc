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PEKING UNIVERSITY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68680" y="1234440"/>
            <a:ext cx="2011680" cy="18288"/>
          </a:xfrm>
          <a:prstGeom prst="rect">
            <a:avLst/>
          </a:prstGeom>
          <a:solidFill>
            <a:srgbClr val="F0C0C0"/>
          </a:solidFill>
          <a:ln w="12700">
            <a:solidFill>
              <a:srgbClr val="F0C0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65960"/>
            <a:ext cx="91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965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88720" y="2880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 策略翻译 · 行为解析与分发 · 行为合规判定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34564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离线自动化回归 · 3 模块 · 24 个测试项（23 个唯一编号）· 118 条用例 · 通过率 100.0%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BA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报告版本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5330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v1.1（离线批次）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BA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测试轮次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5330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2026-09-20 11:19:53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BA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测试项依据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38160" y="5330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ppt测试项.md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5943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BA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本轮为离线自动化回归（mock LLM / 合成日志 / 本地桩）；真实 LLM 与网页端到端验证安排下一批次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汇报大纲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6035040" cy="786384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234440"/>
            <a:ext cx="64008" cy="78638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28016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12893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测试背景与范围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16550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被测对象与源码、测试项依据、环境与执行口径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6035040" cy="786384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48840"/>
            <a:ext cx="64008" cy="78638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9456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2203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测试结果总览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25694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通过率、用例构成、分类与模块维度分布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6035040" cy="786384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63240"/>
            <a:ext cx="64008" cy="78638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10896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3040" y="31181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分模块结果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4838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/ 二 / 三逐项结论与覆盖热点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6035040" cy="786384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977640"/>
            <a:ext cx="64008" cy="78638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02336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63040" y="4032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性能实测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3982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延迟类与吞吐类对照设计门槛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6035040" cy="786384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892040"/>
            <a:ext cx="64008" cy="78638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93776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63040" y="49469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· 结论 · 建议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312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项风险、5 项数据缺失、后续闭环计划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1234440"/>
            <a:ext cx="4663440" cy="4572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19202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 118 条自动化用例全部通过（100.0%），23 个测试项编号全部有实测记录，性能实测全部优于设计门槛。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269480" y="3794760"/>
            <a:ext cx="13716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3977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但「用例通过」不等于「设计条件全覆盖」：仍有 4 项已知能力缺口与 5 项数据缺失需后续闭环。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6948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26948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4108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64108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1268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23/23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01268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编号覆盖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6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960120" y="3364992"/>
            <a:ext cx="1371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测试背景与范围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60120" y="42793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被测对象 · 测试项依据 · 测试环境与执行口径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被测对象与三模块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测试背景与范围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3611880" cy="246888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234440"/>
            <a:ext cx="3611880" cy="6400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783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 策略翻译与多角色策略库管理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个测试项 · 46 条用例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两阶段翻译、注册表加载与热重载、IR 归一化与校验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234440"/>
            <a:ext cx="3611880" cy="246888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234440"/>
            <a:ext cx="3611880" cy="6400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1783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用户态行为解析与信息分发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个编号（9 个标题）· 41 条用例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/ 网关日志解析、信息上报链路、防篡改与容错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38160" y="1234440"/>
            <a:ext cx="3611880" cy="246888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234440"/>
            <a:ext cx="3611880" cy="6400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1783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用户态行为合规判定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个测试项 · 31 条用例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分层判定与评分、Shell 命令语义、fail-open 语义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关键被测源码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5349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70832"/>
            <a:ext cx="54864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708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translator/core.py · 两阶段翻译与策略注册表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4370832"/>
            <a:ext cx="5349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4370832"/>
            <a:ext cx="54864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37083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monitor/watcher.py · 会话 / 网关日志解析与上报编排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5349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937760"/>
            <a:ext cx="54864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937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monitor/ir_client.py · 翻译服务客户端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4937760"/>
            <a:ext cx="5349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4937760"/>
            <a:ext cx="54864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937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monitor/judge.py · 分层合规判定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504688"/>
            <a:ext cx="5349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504688"/>
            <a:ext cx="54864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5046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monitor/shell_command_semantics.py · Shell 命令语义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5504688"/>
            <a:ext cx="5349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5504688"/>
            <a:ext cx="54864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55046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db.py · 持久化与完整性校验（md5 / is_abnormal）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测试范围与依据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测试背景与范围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120640"/>
                <a:gridCol w="128016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测试项编号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测试项数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本轮用例数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一、IR 策略翻译与多角色策略库管理模块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F-1-1 ～ F-1-5、P-1-1、P-1-2、S-1-1、R-1-1、R-1-2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二、用户态行为解析与信息分发模块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F-3-3、F-3-4、F-3-9、P-3-2（两个标题）、P-3-3、S-3-1、R-3-2、R-3-4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标题 / 8 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三、用户态行为合规判定模块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F-2-5、F-2-6、P-2-1、S-2-1、R-2-1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 标题 / 23 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56616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3520440"/>
            <a:ext cx="10844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四类验证维度：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F / 性能 P / 安全性 S / 可靠性 R，依据 ppt测试项.md 定义的 24 个测试项逐项执行。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05079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4005072"/>
            <a:ext cx="10844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不在本轮范围：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「用户态行为抓取网关（Portkey）与主动拦截」部分已在 ppt测试项.md 中声明丢弃。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53542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4489704"/>
            <a:ext cx="1084478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两个指标互不混用：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 = PASS 用例数 ÷ 本轮执行用例总数（118，Skip 计入分母）；测试项覆盖率 = 有实测记录的唯一编号数 ÷ ppt 唯一编号数 = 23 ÷ 23。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测试环境与执行口径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测试背景与范围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/ 执行方式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3.9.25；unittest（verbosity=2），入口 test/run_tests.py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运行形态 / 后端依赖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单机容器；本地后端 127.0.0.1:15100 可达，涉及该端点的用例按「在线」语义断言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数据隔离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写库用例全部指向临时库 /tmp/clawavc_ut_*.db（执行后已清理），不触碰生产数据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/ 日志样本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 mock call_llm 替身；OpenClaw / Portkey 日志为构造样本；上报由本地捕获服务承接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36576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3611880"/>
            <a:ext cx="10844784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本轮定位（离线自动化回归）：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结论覆盖代码级算法、解析、归一化、判定、容错与纯计算性能；不涉及真实大模型、真实日志与网页端到端。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131945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4086225"/>
            <a:ext cx="10844784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真实性边界：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LLM 对照组、真实 OpenClaw 会话日志、生产量级 Portkey 样本、网页端到端验证 —— 均安排下一批次。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60629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4560570"/>
            <a:ext cx="10844784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数据缺失提示：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结果目录未记录被测代码 commit id 与主机 CPU / 内存 / 内核版本（D5），建议补入 summary.json。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6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960120" y="3364992"/>
            <a:ext cx="1371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测试结果总览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60120" y="42793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 · 用例构成 · 分类与模块维度分布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核心结果：118 条用例全部通过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测试结果总览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3566160" cy="219456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234440"/>
            <a:ext cx="64008" cy="219456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904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执行用例总数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715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PASS，主用例 85 + 补充 33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234440"/>
            <a:ext cx="3566160" cy="219456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234440"/>
            <a:ext cx="64008" cy="219456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4904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100.0%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总通过率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715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 ÷ 118，Skip 计入分母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234440"/>
            <a:ext cx="3566160" cy="219456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234440"/>
            <a:ext cx="64008" cy="219456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4904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3210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/ 跳过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2715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不存在跳过导致的通过率虚高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3566160" cy="219456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657600"/>
            <a:ext cx="64008" cy="219456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913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9.99 s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229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整轮耗时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用例耗时合计 9 980.0 ms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97680" y="3657600"/>
            <a:ext cx="3566160" cy="219456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3657600"/>
            <a:ext cx="64008" cy="219456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913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23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457200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测试项覆盖率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无未执行 / 无记录的测试项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3657600"/>
            <a:ext cx="3566160" cy="2194560"/>
          </a:xfrm>
          <a:prstGeom prst="rect">
            <a:avLst/>
          </a:prstGeom>
          <a:solidFill>
            <a:srgbClr val="F7F4E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3657600"/>
            <a:ext cx="64008" cy="219456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9136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 / 41 / 31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83210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三模块用例数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21040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/ 二 / 三，均为 100% 通过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整体执行结果与用例构成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测试结果总览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2-1　整体执行结果与用例构成（批次 2026-09-20 11:19:53）　｜　原图：figures/fig_01_overall_donut.png</a:t>
            </a:r>
            <a:endParaRPr lang="en-US" sz="1050" dirty="0"/>
          </a:p>
        </p:txBody>
      </p:sp>
      <p:pic>
        <p:nvPicPr>
          <p:cNvPr id="10" name="Image 0" descr="/home/hx/jjq/clawAVC/figures/fig_01_overall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3529"/>
            <a:ext cx="7315200" cy="412530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/ Skip 占比均为 0：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不存在跳过导致的通过率虚高，分母口径成立。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49056" y="2244852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内环 33 条补充用例占 28.0%：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为代码事实与边界固化，非 ppt 明文条目。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935224"/>
            <a:ext cx="3163824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口径提示：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 100% 通过 ≠ 设计条件全覆盖。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运行终端总览（原始截图）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测试结果总览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2-2　本轮执行终端总览截图（原始产物直接引用，未重绘）　｜　原图：figures/fig_02_terminal_overview.png</a:t>
            </a:r>
            <a:endParaRPr lang="en-US" sz="1050" dirty="0"/>
          </a:p>
        </p:txBody>
      </p:sp>
      <p:pic>
        <p:nvPicPr>
          <p:cNvPr id="10" name="Image 0" descr="/home/hx/jjq/clawAVC/figures/fig_02_terminal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65546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279946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9402" y="1554480"/>
            <a:ext cx="4113478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原样引用：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test/results/screenshot_01_总览.png，附 md5 校验。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79946" y="2311146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9402" y="2265426"/>
            <a:ext cx="411347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逐行列出 23 个编号汇总状态：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可与测试项清单表逐项对照。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79946" y="2785491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9402" y="2739771"/>
            <a:ext cx="411347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F-2-6 一行 15 条用例：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为全部测试项中用例最密集的一项。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各测试项自动化用例数分布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测试结果总览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3-1　23 个测试项的自动化用例数分布（全部 100% 通过）　｜　原图：figures/fig_03_item_case_count.png</a:t>
            </a:r>
            <a:endParaRPr lang="en-US" sz="1050" dirty="0"/>
          </a:p>
        </p:txBody>
      </p:sp>
      <p:pic>
        <p:nvPicPr>
          <p:cNvPr id="10" name="Image 0" descr="/home/hx/jjq/clawAVC/figures/fig_03_item_case_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58033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72433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91889" y="1554480"/>
            <a:ext cx="3720991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覆盖密度不均衡：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F-2-6 15 条居首，R-1-1 / F-3-3 / F-3-4 各 9 条次之。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72433" y="2311146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91889" y="2265426"/>
            <a:ext cx="3720991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最薄项：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P-3-3 仅 1 条；P-1-1 / P-1-2 / P-2-1 / S-1-1 各 2 条。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72433" y="302209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91889" y="2976372"/>
            <a:ext cx="3720991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性能类 10 条 / 5 项：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本轮覆盖结构最明显的短板。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用例明细（原始截图）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测试结果总览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3-2　本轮执行用例明细截图（前 45 条，原始产物直接引用）　｜　原图：figures/fig_04_terminal_case_detail.png</a:t>
            </a:r>
            <a:endParaRPr lang="en-US" sz="1050" dirty="0"/>
          </a:p>
        </p:txBody>
      </p:sp>
      <p:pic>
        <p:nvPicPr>
          <p:cNvPr id="10" name="Image 0" descr="/home/hx/jjq/clawAVC/figures/fig_04_terminal_cas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990486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04886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4342" y="1554480"/>
            <a:ext cx="648853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原样引用：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test/results/screenshot_02_用例明细.png，未重绘。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904886" y="2074545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4342" y="2028825"/>
            <a:ext cx="648853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抽样核对清单表「实际结果」列的原始出处。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04886" y="254889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4342" y="2503170"/>
            <a:ext cx="6488538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118 条明细：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 test/results/测试报告.md。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分类维度通过率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测试结果总览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5-1　分类维度通过率：四类均为 100%（分母＝该分类本轮执行用例数）　｜　原图：figures/fig_11_category_passrate.png</a:t>
            </a:r>
            <a:endParaRPr lang="en-US" sz="1050" dirty="0"/>
          </a:p>
        </p:txBody>
      </p:sp>
      <p:pic>
        <p:nvPicPr>
          <p:cNvPr id="10" name="Image 0" descr="/home/hx/jjq/clawAVC/figures/fig_11_category_pass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3172"/>
            <a:ext cx="7315200" cy="44460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四类通过率同为 100.0%：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与 Skip 柱均为 0。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49056" y="2244852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柱高差异极大：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66 条、可靠 28 条、安全 14 条、性能仅 10 条。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935224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性能类平均 2 条 / 项：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3 项性能数据缺失同源。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× 分类用例构成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测试结果总览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5-2　三个模块在四类验证维度上的用例构成（全部 Pass，无 Fail / Skip 分段）　｜　原图：figures/fig_12_module_category_stack.png</a:t>
            </a:r>
            <a:endParaRPr lang="en-US" sz="1050" dirty="0"/>
          </a:p>
        </p:txBody>
      </p:sp>
      <p:pic>
        <p:nvPicPr>
          <p:cNvPr id="10" name="Image 0" descr="/home/hx/jjq/clawAVC/figures/fig_12_module_category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7699"/>
            <a:ext cx="7315200" cy="449696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模块一可靠性占比最高：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46 = 32.6%，与「注册表降级不崩溃」设计重点一致。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49056" y="2244852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模块三安全性占比最高：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31 = 22.6%，与合规判定定位一致。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935224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模块二安全性仅 5 条：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全部集中在 S-3-1，上报通道鉴权等安全面无测试项。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6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960120" y="3364992"/>
            <a:ext cx="1371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分模块结果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60120" y="42793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/ 二 / 三 逐项结论、终端原图与覆盖热点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模块一：IR 策略翻译与多角色策略库管理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　模块一：10 个测试项 / 46 条用例 / 通过率 100.0%　｜　原图：figures/fig_05_module1_items.png</a:t>
            </a:r>
            <a:endParaRPr lang="en-US" sz="1050" dirty="0"/>
          </a:p>
        </p:txBody>
      </p:sp>
      <p:pic>
        <p:nvPicPr>
          <p:cNvPr id="10" name="Image 0" descr="/home/hx/jjq/clawAVC/figures/fig_05_module1_i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30238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244638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64094" y="1554480"/>
            <a:ext cx="4148786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 ÷ 46 全部通过：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模块内耗时 1 733.2 ms，占整轮 17.4%。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44638" y="2074545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64094" y="2028825"/>
            <a:ext cx="4148786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核心安全语义成立：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静态策略禁止的命令，即便 IR 显式允许也被删除。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44638" y="2785491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64094" y="2739771"/>
            <a:ext cx="4148786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耗时热点需正确解读：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R-1-2 989 ms 中 983.79 ms 为健康检查 HTTP 往返。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模块一关键用例运行输出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　模块一关键用例运行输出速览（run.log 原文片段 + perf.log 同批次实测值）　｜　原图：figures/fig_06_terminal_module1.png</a:t>
            </a:r>
            <a:endParaRPr lang="en-US" sz="1050" dirty="0"/>
          </a:p>
        </p:txBody>
      </p:sp>
      <p:pic>
        <p:nvPicPr>
          <p:cNvPr id="10" name="Image 0" descr="/home/hx/jjq/clawAVC/figures/fig_06_terminal_modu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004959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19359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8815" y="1554480"/>
            <a:ext cx="4474065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覆盖七类关键路径：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注册表加载、残缺降级、场景分类、归一化幂等、IR 校验、端到端翻译、静态拦截。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19359" y="2311146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8815" y="2265426"/>
            <a:ext cx="4474065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安全语义一行确认：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test_S_1_1_ir_allowed_denied_command_deleted。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19359" y="302209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8815" y="2976372"/>
            <a:ext cx="4474065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P-1-1 / P-1-2 实测行：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1.99 / 2.23 ms 与 14.70 ms，同批次落盘。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【F-1-1】策略知识库加载与角色重载功能验证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4-3　【F-1-1】策略知识库加载与角色重载功能验证 —— 7 条用例运行输出　｜　原图：figures/fig_21_terminal_F_1_1.png</a:t>
            </a:r>
            <a:endParaRPr lang="en-US" sz="1050" dirty="0"/>
          </a:p>
        </p:txBody>
      </p:sp>
      <p:pic>
        <p:nvPicPr>
          <p:cNvPr id="10" name="Image 0" descr="/home/hx/jjq/clawAVC/figures/fig_21_terminal_F_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676" y="1280160"/>
            <a:ext cx="10046167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两阶段注册表加载：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场景数量与 scenes.json 精确一致，tool 按顶层 scene 建索引。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热重载两层语义：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模块级刷新与真实改文件后内容刷新均生效。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残缺降级已修复：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三类残缺降级为空集合不抛异常（09-17 批次失败项本轮转 PASS）。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【F-1-2】Level-1 场景分类功能验证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4-4　【F-1-2】Level-1 场景分类功能验证 —— 5 条用例运行输出　｜　原图：figures/fig_22_terminal_F_1_2.png</a:t>
            </a:r>
            <a:endParaRPr lang="en-US" sz="1050" dirty="0"/>
          </a:p>
        </p:txBody>
      </p:sp>
      <p:pic>
        <p:nvPicPr>
          <p:cNvPr id="10" name="Image 0" descr="/home/hx/jjq/clawAVC/figures/fig_22_terminal_F_1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420"/>
            <a:ext cx="11064240" cy="3804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/ 多场景判定正确：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单场景与组合任务判定均正确，未知场景被白名单丢弃。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异常输出不中断：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空列表 / 非列表 / 无 JSON / 单引号 / 尾随逗号均降级为空场景集。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无补充用例：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条与 ppt 的 4 条测试内容一一对应，多出 1 条降级验证。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【F-1-3】Level-2 IR 生成与归一化功能完备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4-5　【F-1-3】Level-2 IR 生成与归一化功能完备 —— 6 条用例运行输出　｜　原图：figures/fig_23_terminal_F_1_3.png</a:t>
            </a:r>
            <a:endParaRPr lang="en-US" sz="1050" dirty="0"/>
          </a:p>
        </p:txBody>
      </p:sp>
      <p:pic>
        <p:nvPicPr>
          <p:cNvPr id="10" name="Image 0" descr="/home/hx/jjq/clawAVC/figures/fig_23_terminal_F_1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298" y="1280160"/>
            <a:ext cx="10922924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四类非标准形态归一：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 policies、objects 单对象、旧格式 scene/functions、static 三态。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幂等性成立：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连续两次 normalize_ir 结果逐字段一致。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耗时极低：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 0.86 ms，为模块一最轻量测试项（纯内存结构变换）。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【F-1-4】IR 校验规则验证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4-6　【F-1-4】IR 校验规则验证 —— 3 条用例运行输出　｜　原图：figures/fig_24_terminal_F_1_4.png</a:t>
            </a:r>
            <a:endParaRPr lang="en-US" sz="1050" dirty="0"/>
          </a:p>
        </p:txBody>
      </p:sp>
      <p:pic>
        <p:nvPicPr>
          <p:cNvPr id="10" name="Image 0" descr="/home/hx/jjq/clawAVC/figures/fig_24_terminal_F_1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9176"/>
            <a:ext cx="11064240" cy="30767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类违规逐条命中：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validate_ir 均指明具体 policy 与违规原因。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 IR 通过：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ok=True、errors=[]，ValidationReport 可 JSON 序列化。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口径已对齐：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 subject / 未注册 tool 已由 warnings 升级为 errors。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【F-1-5】两阶段翻译结果准确性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4-7　【F-1-5】两阶段翻译结果准确性 —— 4 条用例运行输出　｜　原图：figures/fig_25_terminal_F_1_5.png</a:t>
            </a:r>
            <a:endParaRPr lang="en-US" sz="1050" dirty="0"/>
          </a:p>
        </p:txBody>
      </p:sp>
      <p:pic>
        <p:nvPicPr>
          <p:cNvPr id="10" name="Image 0" descr="/home/hx/jjq/clawAVC/figures/fig_25_terminal_F_1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298"/>
            <a:ext cx="11064240" cy="34405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端到端结构完整：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{query, level1, level2, validation, meta}。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回调与写入序列：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on_level1_done 触发一次；DB 写入 pending→level1→upsert 共 3 次。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无半成品 IR：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/ L2 失败为两个不同中断点，均不残留。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【P-1-1】策略注册表加载与热重载耗时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4-8　【P-1-1】策略注册表加载与热重载耗时 —— 2 条用例 + perf.log 实测行　｜　原图：figures/fig_26_terminal_P_1_1.png</a:t>
            </a:r>
            <a:endParaRPr lang="en-US" sz="1050" dirty="0"/>
          </a:p>
        </p:txBody>
      </p:sp>
      <p:pic>
        <p:nvPicPr>
          <p:cNvPr id="10" name="Image 0" descr="/home/hx/jjq/clawAVC/figures/fig_26_terminal_P_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298"/>
            <a:ext cx="11064240" cy="34405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1.99 ms（门槛 50 ms）：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余量约 25×，P95 2.13 ms。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 2.08 / 热 2.23 ms：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相差 7%，满足「热重载与首次加载同量级」判据。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 20 次采样：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冷、热两组分别记录（perf.log 第 3、4 行）。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【P-1-2】翻译链路处理耗时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4-9　【P-1-2】翻译链路处理耗时 —— 2 条用例 + perf.log 实测行　｜　原图：figures/fig_27_terminal_P_1_2.png</a:t>
            </a:r>
            <a:endParaRPr lang="en-US" sz="1050" dirty="0"/>
          </a:p>
        </p:txBody>
      </p:sp>
      <p:pic>
        <p:nvPicPr>
          <p:cNvPr id="10" name="Image 0" descr="/home/hx/jjq/clawAVC/figures/fig_27_terminal_P_1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298"/>
            <a:ext cx="11064240" cy="34405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本地链路 14.70 ms（门槛 100 ms）：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零延迟 mock 下测得，余量约 6.8×。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分段耗时：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extract_json 0.014 / normalize 0.011 / validate 0.004 ms，合计 0.029 ms。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对照组待补：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LLM 对照组安排下一批次（D1）。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【S-1-1】正确拦截处理静态策略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4-10　【S-1-1】正确拦截处理静态策略 —— 2 条用例运行输出　｜　原图：figures/fig_28_terminal_S_1_1.png</a:t>
            </a:r>
            <a:endParaRPr lang="en-US" sz="1050" dirty="0"/>
          </a:p>
        </p:txBody>
      </p:sp>
      <p:pic>
        <p:nvPicPr>
          <p:cNvPr id="10" name="Image 0" descr="/home/hx/jjq/clawAVC/figures/fig_28_terminal_S_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81054"/>
            <a:ext cx="11064240" cy="27130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静态策略优先于 IR：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 显式允许的被禁命令在最终输出中被删除。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约束已注入提示词：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静态约束存在于注册表并被注入 Level-2 提示词。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覆盖最薄：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2 条用例，是全表覆盖最薄的安全项之一，建议扩充。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【R-1-1】LLM 输出解析鲁棒性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4-11　【R-1-1】LLM 输出解析鲁棒性 —— 9 条用例运行输出　｜　原图：figures/fig_29_terminal_R_1_1.png</a:t>
            </a:r>
            <a:endParaRPr lang="en-US" sz="1050" dirty="0"/>
          </a:p>
        </p:txBody>
      </p:sp>
      <p:pic>
        <p:nvPicPr>
          <p:cNvPr id="10" name="Image 0" descr="/home/hx/jjq/clawAVC/figures/fig_29_terminal_R_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512" y="1280160"/>
            <a:ext cx="8656496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多种形态可提取：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JSON / 围栏 / 夹带文字 / 多 JSON 块均可提取。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异常与重试：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超时与缺 choices 返回明确错误；max_retry=2（共 3 次）+ 退避已固化。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提取边界（R4）：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夹带文字 + 尾随逗号组合形态当前无法提取（已兜底不崩溃）。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【R-1-2】注册表缺失与非法内容降级不崩溃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4-12　【R-1-2】注册表缺失与非法内容降级不崩溃 —— 6 条用例运行输出　｜　原图：figures/fig_30_terminal_R_1_2.png</a:t>
            </a:r>
            <a:endParaRPr lang="en-US" sz="1050" dirty="0"/>
          </a:p>
        </p:txBody>
      </p:sp>
      <p:pic>
        <p:nvPicPr>
          <p:cNvPr id="10" name="Image 0" descr="/home/hx/jjq/clawAVC/figures/fig_30_terminal_R_1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298" y="1280160"/>
            <a:ext cx="10922924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三类残缺不崩溃：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scenes.json 缺失 / tools 为空 / tool json 非法均降级为空集合。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健康检查不 500：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三个异常分支均返回明确错误而非 500。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耗时说明：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989.0 ms 中 983.79 ms 为健康检查 HTTP 往返，非降级逻辑开销。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模块二：用户态行为解析与信息分发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4-13　模块二：8 个测试项 / 41 条用例 / 通过率 100.0%　｜　原图：figures/fig_07_module2_items.png</a:t>
            </a:r>
            <a:endParaRPr lang="en-US" sz="1050" dirty="0"/>
          </a:p>
        </p:txBody>
      </p:sp>
      <p:pic>
        <p:nvPicPr>
          <p:cNvPr id="10" name="Image 0" descr="/home/hx/jjq/clawAVC/figures/fig_07_module2_i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278655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93055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511" y="1554480"/>
            <a:ext cx="3200369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÷ 41 全部通过：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模块内耗时 8 124.8 ms，占整轮 81.4%。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93055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511" y="2244852"/>
            <a:ext cx="3200369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耗时高 ≠ 性能差：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 40 831 行/秒，为设计门槛的 2.04 倍。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93055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511" y="2935224"/>
            <a:ext cx="3200369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耗时主体：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万行日志扫描计算 + 网络超时 / 压测等待。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模块二关键用例运行输出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4-14　模块二关键用例运行输出速览（run.log 原文片段 + perf.log 同批次实测值）　｜　原图：figures/fig_08_terminal_module2.png</a:t>
            </a:r>
            <a:endParaRPr lang="en-US" sz="1050" dirty="0"/>
          </a:p>
        </p:txBody>
      </p:sp>
      <p:pic>
        <p:nvPicPr>
          <p:cNvPr id="10" name="Image 0" descr="/home/hx/jjq/clawAVC/figures/fig_08_terminal_modul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62106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876506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5962" y="1554480"/>
            <a:ext cx="351691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覆盖七类关键路径：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key 推断、Portkey 报文提取、空 requestOptions 降级、上报字段核对等。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76506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5962" y="2244852"/>
            <a:ext cx="351691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双日志吞吐与 qps 实测行：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40 831 / 71 354 行/秒、525 qps。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76506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5962" y="2935224"/>
            <a:ext cx="351691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防篡改正反向证据：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一致 与 篡改检出 两行共同构成。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【F-3-3】OpenClaw 会话日志解析功能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4-15　【F-3-3】OpenClaw 会话日志解析功能 —— 9 条用例运行输出　｜　原图：figures/fig_31_terminal_F_3_3.png</a:t>
            </a:r>
            <a:endParaRPr lang="en-US" sz="1050" dirty="0"/>
          </a:p>
        </p:txBody>
      </p:sp>
      <p:pic>
        <p:nvPicPr>
          <p:cNvPr id="10" name="Image 0" descr="/home/hx/jjq/clawAVC/figures/fig_31_terminal_F_3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512" y="1280160"/>
            <a:ext cx="8656496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 字段识别正确：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时间戳、session ID、round_id 等任务字段均正确。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stopReason 映射：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toolUse→tool_started；end_turn / stop→turn_completed。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异常行不抛异常：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 JSON / 缺 type / 缺 message 均返回 None。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【F-3-4】Portkey 网关日志解析功能完备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4-16　【F-3-4】Portkey 网关日志解析功能完备 —— 9 条用例运行输出　｜　原图：figures/fig_32_terminal_F_3_4.png</a:t>
            </a:r>
            <a:endParaRPr lang="en-US" sz="1050" dirty="0"/>
          </a:p>
        </p:txBody>
      </p:sp>
      <p:pic>
        <p:nvPicPr>
          <p:cNvPr id="10" name="Image 0" descr="/home/hx/jjq/clawAVC/figures/fig_32_terminal_F_3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512" y="1280160"/>
            <a:ext cx="8656496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报文取值正确：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与 tools 取自 finalUntransformedRequest.body。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三态与降级：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arguments 三态兼容；requestOptions 空缺时降级不抛异常。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能力缺口（R2）：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tool_use 风格当前未被 build_actions_from_trajectory 解析。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【F-3-9】信息上报链路完整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4-17　【F-3-9】信息上报链路完整 —— 4 条用例运行输出　｜　原图：figures/fig_33_terminal_F_3_9.png</a:t>
            </a:r>
            <a:endParaRPr lang="en-US" sz="1050" dirty="0"/>
          </a:p>
        </p:txBody>
      </p:sp>
      <p:pic>
        <p:nvPicPr>
          <p:cNvPr id="10" name="Image 0" descr="/home/hx/jjq/clawAVC/figures/fig_33_terminal_F_3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298"/>
            <a:ext cx="11064240" cy="34405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占位再回填：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先上报 ir_json="__loading__" 占位，再回填真实 IR。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完整流转：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round_start→round_end 全链路通过，回调各触发一次。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空闲超时生效：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 ≥5.0 s 后强制结束 ROUTING_RESPONSE 状态的 round。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【P-3-2】会话 / 网关日志扫描吞吐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4-18　【P-3-2】会话 / 网关日志扫描吞吐 —— 3 条用例 + perf.log 实测行　｜　原图：figures/fig_34_terminal_P_3_2.png</a:t>
            </a:r>
            <a:endParaRPr lang="en-US" sz="1050" dirty="0"/>
          </a:p>
        </p:txBody>
      </p:sp>
      <p:pic>
        <p:nvPicPr>
          <p:cNvPr id="10" name="Image 0" descr="/home/hx/jjq/clawAVC/figures/fig_34_terminal_P_3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481"/>
            <a:ext cx="11064240" cy="398615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40 831 行/秒：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万行 / 2.45 s，为 2 万行/秒门槛的 2.04×。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Portkey 71 354 行/秒：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万行合成样本（生产量级样本缺失 D2）。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瓶颈定位：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纯扫描 vs 扫描+解析相差 26×，瓶颈在 parse_line 而非文件 I/O。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【P-3-3】信息上报接口 qps 测试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4-19　【P-3-3】信息上报接口 qps 测试 —— 1 条用例 + perf.log 实测行　｜　原图：figures/fig_35_terminal_P_3_3.png</a:t>
            </a:r>
            <a:endParaRPr lang="en-US" sz="1050" dirty="0"/>
          </a:p>
        </p:txBody>
      </p:sp>
      <p:pic>
        <p:nvPicPr>
          <p:cNvPr id="10" name="Image 0" descr="/home/hx/jjq/clawAVC/figures/fig_35_terminal_P_3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0115"/>
            <a:ext cx="11064240" cy="28948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525 qps（短时突发）：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次上报 0.38 s 内全部到达，无丢失。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口径不一致（D4）：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与「10/50/100 qps 阶梯 + 持续 5 分钟」不可比，不计入达标。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用例最少：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1 条，为全表覆盖最薄的测试项。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【S-3-1】采集是否防篡改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4-20　【S-3-1】采集是否防篡改 —— 5 条用例运行输出　｜　原图：figures/fig_36_terminal_S_3_1.png</a:t>
            </a:r>
            <a:endParaRPr lang="en-US" sz="1050" dirty="0"/>
          </a:p>
        </p:txBody>
      </p:sp>
      <p:pic>
        <p:nvPicPr>
          <p:cNvPr id="10" name="Image 0" descr="/home/hx/jjq/clawAVC/figures/fig_36_terminal_S_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420"/>
            <a:ext cx="11064240" cy="3804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未篡改 md5 一致：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库内 action_json_md5 与本地计算值一致。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篡改可检出：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直接改库后校验返回 False，正向 + 反向证据链完整。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旧记录不误判：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MD5 记录返回 None；合法更新两条路径均同步刷新 MD5。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【R-3-2】日志轮转、截断容错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4-21　【R-3-2】日志轮转、截断容错 —— 5 条用例运行输出　｜　原图：figures/fig_37_terminal_R_3_2.png</a:t>
            </a:r>
            <a:endParaRPr lang="en-US" sz="1050" dirty="0"/>
          </a:p>
        </p:txBody>
      </p:sp>
      <p:pic>
        <p:nvPicPr>
          <p:cNvPr id="10" name="Image 0" descr="/home/hx/jjq/clawAVC/figures/fig_37_terminal_R_3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420"/>
            <a:ext cx="11064240" cy="3804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非法行跳过：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 JSON 与截断半行被跳过，好行正常产出。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轮转与截断：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inode 变化后重定位；st_size &lt; pos 时 offset 回 0 重读。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异常路径不崩溃：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 / 是目录 / 无权限三种路径均被跳过。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【R-3-4】采集与上报异常不阻塞监控主流程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4-22　【R-3-4】采集与上报异常不阻塞监控主流程 —— 5 条用例运行输出　｜　原图：figures/fig_38_terminal_R_3_4.png</a:t>
            </a:r>
            <a:endParaRPr lang="en-US" sz="1050" dirty="0"/>
          </a:p>
        </p:txBody>
      </p:sp>
      <p:pic>
        <p:nvPicPr>
          <p:cNvPr id="10" name="Image 0" descr="/home/hx/jjq/clawAVC/figures/fig_38_terminal_R_3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420"/>
            <a:ext cx="11064240" cy="3804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翻译失败隔离：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ir_translate 失败 / 超时返回 ({}, err)，不上报脏 IR。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上报失败不阻塞：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单次失败不抛异常，连续失败后主流程未被永久阻断。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判定异常兜底：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 内部异常被入口捕获并返回合法文本。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模块三：用户态行为合规判定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4-23　模块三：5 个测试项 / 31 条用例 / 通过率 100.0%　｜　原图：figures/fig_09_module3_items.png</a:t>
            </a:r>
            <a:endParaRPr lang="en-US" sz="1050" dirty="0"/>
          </a:p>
        </p:txBody>
      </p:sp>
      <p:pic>
        <p:nvPicPr>
          <p:cNvPr id="10" name="Image 0" descr="/home/hx/jjq/clawAVC/figures/fig_09_module3_i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984" y="1280160"/>
            <a:ext cx="7987553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÷ 31 全部通过：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模块内耗时 122.3 ms，仅占整轮 1.2%。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用例多 ≠ 耗时高：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F-2-6 占本模块 48.4% 用例，累计耗时仅 7.71 ms。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判定性能优异：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P-2-1 均值 0.52 ms，为 20 ms 门槛的 1/38。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模块三关键用例与整轮汇总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4-24　模块三关键用例运行输出速览与整轮汇总（run.log 原文片段 + perf.log 实测值）　｜　原图：figures/fig_10_terminal_module3.png</a:t>
            </a:r>
            <a:endParaRPr lang="en-US" sz="1050" dirty="0"/>
          </a:p>
        </p:txBody>
      </p:sp>
      <p:pic>
        <p:nvPicPr>
          <p:cNvPr id="10" name="Image 0" descr="/home/hx/jjq/clawAVC/figures/fig_10_terminal_modul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0193"/>
            <a:ext cx="7315200" cy="467197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末行 Ran 118 tests in 9.985s / OK：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「118 条全部通过」结论的原始出处。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49056" y="2244852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R-2-1 需反向阅读：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用例通过说明 fail-open 风险存在，而非安全性达标。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935224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附同批次实测：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0.52 ms / P95 0.80 ms、benign=3、fpr=0.00。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【F-2-5】判定序列化与数据上报正确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4-25　【F-2-5】判定序列化与数据上报正确 —— 4 条用例运行输出　｜　原图：figures/fig_39_terminal_F_2_5.png</a:t>
            </a:r>
            <a:endParaRPr lang="en-US" sz="1050" dirty="0"/>
          </a:p>
        </p:txBody>
      </p:sp>
      <p:pic>
        <p:nvPicPr>
          <p:cNvPr id="10" name="Image 0" descr="/home/hx/jjq/clawAVC/figures/fig_39_terminal_F_2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298"/>
            <a:ext cx="11064240" cy="34405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序列化与文案：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dict 可 JSON 序列化无丢失；text 首行文案逐字符固定。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空维度段落省略：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total_count==0 的维度段落不输出（前端解析依赖）。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阈值边界固化：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overall_score &lt; 0.5 → is_abnormal=1（==0.5 记为正常）。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【F-2-6】Shell 命令语义转义能力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4-26　【F-2-6】Shell 命令语义转义能力 —— 15 条用例运行输出（全表用例最多）　｜　原图：figures/fig_40_terminal_F_2_6.png</a:t>
            </a:r>
            <a:endParaRPr lang="en-US" sz="1050" dirty="0"/>
          </a:p>
        </p:txBody>
      </p:sp>
      <p:pic>
        <p:nvPicPr>
          <p:cNvPr id="10" name="Image 0" descr="/home/hx/jjq/clawAVC/figures/fig_40_terminal_F_2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273298" cy="4892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7698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07154" y="1554480"/>
            <a:ext cx="320572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六类行为全覆盖：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/ 写 / 删 / 网络 / 执行，并对脚本文件补 read。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87698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07154" y="2244852"/>
            <a:ext cx="320572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操作符与重定向：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五种操作符分段正确；&gt; /dev/null 与 2&gt;&amp;1 不误判为写。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87698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07154" y="2935224"/>
            <a:ext cx="320572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缺口（R3）：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tee 写类命令当前不支持；~ 保持原样未展开。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【P-2-1】单轮分层判定耗时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4-27　【P-2-1】单轮分层判定耗时 —— 2 条用例 + perf.log 实测行　｜　原图：figures/fig_41_terminal_P_2_1.png</a:t>
            </a:r>
            <a:endParaRPr lang="en-US" sz="1050" dirty="0"/>
          </a:p>
        </p:txBody>
      </p:sp>
      <p:pic>
        <p:nvPicPr>
          <p:cNvPr id="10" name="Image 0" descr="/home/hx/jjq/clawAVC/figures/fig_41_terminal_P_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7298"/>
            <a:ext cx="11064240" cy="34405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0.52 ms（门槛 20 ms）：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余量约 38×；P95 0.80 ms、Max 0.88 ms。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含归一化另测 0.15 ms：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两条记录已分别标注是否纳入归一化计时。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不影响上报时延：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round 级秒量级流程可忽略。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【S-2-1】分层判定结构与评分能力正确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4-28　【S-2-1】分层判定结构与评分能力正确 —— 7 条用例 + perf.log 实测行　｜　原图：figures/fig_42_terminal_S_2_1.png</a:t>
            </a:r>
            <a:endParaRPr lang="en-US" sz="1050" dirty="0"/>
          </a:p>
        </p:txBody>
      </p:sp>
      <p:pic>
        <p:nvPicPr>
          <p:cNvPr id="10" name="Image 0" descr="/home/hx/jjq/clawAVC/figures/fig_42_terminal_S_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470" y="1280160"/>
            <a:ext cx="8966579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四维判定（R5）：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代码实现为四维，与 ppt「三维」口径不一致。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评分与边界：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空维度 1.0、1/3 命中 0.3333、四维全空 overall=1.0。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对抗样本全识别：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六类均判异常；良性 3 样本 fpr=0.00（样本量不足 R6）。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【R-2-1】空 actions 集合的 fail-open 放行语义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 · 逐测试项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4-29　【R-2-1】空 actions 集合的 fail-open 放行语义 —— 3 条用例运行输出　｜　原图：figures/fig_43_terminal_R_2_1.png</a:t>
            </a:r>
            <a:endParaRPr lang="en-US" sz="1050" dirty="0"/>
          </a:p>
        </p:txBody>
      </p:sp>
      <p:pic>
        <p:nvPicPr>
          <p:cNvPr id="10" name="Image 0" descr="/home/hx/jjq/clawAVC/figures/fig_43_terminal_R_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9176"/>
            <a:ext cx="11064240" cy="30767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健壮性成立：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空工具调用正常跳过；4×4 = 16 种组合均返回合法文本不抛异常。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fail-open 风险（R1）：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 actions 集合返回 True，实际 delete 事件被判合规。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不计安全通过：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ppt 明确要求，作为 P0 级风险上报（需反向阅读）。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测试项 × 用例执行状态热点矩阵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6-1　测试项 × 用例执行状态热点矩阵：118 个有效格全部为 Pass　｜　原图：figures/fig_15_status_heatmap.png</a:t>
            </a:r>
            <a:endParaRPr lang="en-US" sz="1050" dirty="0"/>
          </a:p>
        </p:txBody>
      </p:sp>
      <p:pic>
        <p:nvPicPr>
          <p:cNvPr id="10" name="Image 0" descr="/home/hx/jjq/clawAVC/figures/fig_15_statu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3432"/>
            <a:ext cx="7315200" cy="424549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60020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 个有效格全部 Pass：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Fail / Skip 热点，无集中在某项或某序位的失败。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2290572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49056" y="2244852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灰色即覆盖薄：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P-3-3 仅 1 格，右侧 13 ～ 14 列几乎全灰。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2980944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935224"/>
            <a:ext cx="316382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薄弱点系统性集中：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性能类与 S-1-1 静态策略拦截这一安全项。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× 验证维度覆盖密度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分模块结果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6-2　模块 × 验证维度 用例密度热力图（色深＝用例数，非覆盖完整度）　｜　原图：figures/fig_16_density_heatmap.png</a:t>
            </a:r>
            <a:endParaRPr lang="en-US" sz="1050" dirty="0"/>
          </a:p>
        </p:txBody>
      </p:sp>
      <p:pic>
        <p:nvPicPr>
          <p:cNvPr id="10" name="Image 0" descr="/home/hx/jjq/clawAVC/figures/fig_16_densit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410" y="1280160"/>
            <a:ext cx="8746701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色深只表示用例数量：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不代表设计条件覆盖完整度（模块三功能 19 条中 15 条集中于 F-2-6）。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最深三格：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模块一功能 25、模块二功能 22、模块三功能 19 条。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最浅格建议优先扩充：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模块一安全性仅 2 条（S-1-1 为核心语义唯一入口）。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A6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960120" y="3364992"/>
            <a:ext cx="1371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性能实测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60120" y="42793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延迟类与吞吐类对照设计门槛 · perf.log 原始输出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延迟类性能实测与门槛对照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性能实测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5-3　延迟类性能：实测均值全部远低于设计门槛（余量 6.8× ～ 38.5×）　｜　原图：figures/fig_13_perf_latency_vs_threshold.png</a:t>
            </a:r>
            <a:endParaRPr lang="en-US" sz="1050" dirty="0"/>
          </a:p>
        </p:txBody>
      </p:sp>
      <p:pic>
        <p:nvPicPr>
          <p:cNvPr id="10" name="Image 0" descr="/home/hx/jjq/clawAVC/figures/fig_13_perf_latency_vs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919" y="1280160"/>
            <a:ext cx="9063681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P-2-1 0.52 ms / 门槛 20 ms：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余量 38×，P95 0.80 ms，判定不影响上报时延。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P-1-1 冷 2.08 / 热 2.23 ms：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同量级，满足「热重载与首次加载同量级」判据。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P-1-2 14.70 ms（零延迟 mock）：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三段解析合计仅 0.029 ms；真实 LLM 对照组待下一批次（D1）。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吞吐类性能实测与门槛对照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性能实测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5-4　日志扫描吞吐与上报 QPS 对设计门槛的达成情况　｜　原图：figures/fig_14_perf_throughput_vs_threshold.png</a:t>
            </a:r>
            <a:endParaRPr lang="en-US" sz="1050" dirty="0"/>
          </a:p>
        </p:txBody>
      </p:sp>
      <p:pic>
        <p:nvPicPr>
          <p:cNvPr id="10" name="Image 0" descr="/home/hx/jjq/clawAVC/figures/fig_14_perf_throughput_vs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250" y="1280160"/>
            <a:ext cx="793102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吞吐全部越过 2 万行/秒：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40 831（2.04×）、Portkey 71 354（3.57×）行/秒。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纯扫描 vs 扫描+解析差 26×：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瓶颈在 parse_line 解析而非文件 I/O。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P-3-3 标注 *：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短时突发口径，与「阶梯 + 持续 5 分钟」不可比（D4）。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性能实测原始输出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性能实测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5-5　性能实测原始输出 · test/results/perf.log 全文（批次 2026-09-20 11:19:53）　｜　原图：figures/fig_44_terminal_perf_summary.png</a:t>
            </a:r>
            <a:endParaRPr lang="en-US" sz="1050" dirty="0"/>
          </a:p>
        </p:txBody>
      </p:sp>
      <p:pic>
        <p:nvPicPr>
          <p:cNvPr id="10" name="Image 0" descr="/home/hx/jjq/clawAVC/figures/fig_44_terminal_perf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6359"/>
            <a:ext cx="11064240" cy="36224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行全文逐字符渲染：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本章全部性能数字的单一出处。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文件头自述批次一致：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2026-09-20 11:19:53，Python 3.9.25。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行 [supp *] + 6 行主实测：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P-3-2 Portkey 为合成样本、P-3-3 为短时突发。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耗时分布与 Top-15 长尾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性能实测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7-5　耗时 Top-15 用例：合计 9 612 ms，占整轮 96.2%（全部 Pass，非超时失败）　｜　原图：figures/fig_20_duration_top15.png</a:t>
            </a:r>
            <a:endParaRPr lang="en-US" sz="1050" dirty="0"/>
          </a:p>
        </p:txBody>
      </p:sp>
      <p:pic>
        <p:nvPicPr>
          <p:cNvPr id="10" name="Image 0" descr="/home/hx/jjq/clawAVC/figures/fig_20_duration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207" y="1280160"/>
            <a:ext cx="8063105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整体中位数 0.47 ms：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/ 二 / 三中位 0.72 / 0.46 / 0.39 ms。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Top-15 占 96.2% 耗时：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真实计算 48.7% + 网络 / 超时等待 35.9%。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优化指向：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 HTTP 往返等待，而非削减日志样本规模。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A6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960120" y="3364992"/>
            <a:ext cx="1371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· 结论 · 建议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60120" y="42793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9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项风险 · 5 项数据缺失 · 后续闭环计划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风险项清单（缺口固化，非用例失败）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风险 · 结论 · 建议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777240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风险描述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R-2-1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 actions 集合 fail-open 放行：allowed_actions 为空时 _action_allowed 直接返回 True；IR object 的 actions=[] 时，实际 delete 事件被判为合规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高（安全语义）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F-3-4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 tool_use 风格未被解析：网关日志中 Anthropic 风格工具调用不会进入 actions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F-2-6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tee 写类命令不支持：不产生文件写行为事件，属实现未覆盖设计枚举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R-1-1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 提取边界：「前后夹带解释文字」且「同时含尾随逗号」时当前无法提取（已兜底不崩溃）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 ~ 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S-2-1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文档口径不一致：ppt 称「三维分层判定」，代码实现为四维（tool_call / trajectory / parameter / resource_access）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低（文档）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S-2-1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良性对照集样本量不足：benign_samples=3、fpr=0.00，3 个样本的误报率不具统计效力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中（可信度）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577840"/>
            <a:ext cx="77724" cy="16459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5532120"/>
            <a:ext cx="10844784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上述风险来自用例主动固化的已知缺口，用例本身全部 PASS；其中 R1 按 ppt测试项.md 的明确要求，不记为安全通过。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数据缺失清单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风险 · 结论 · 建议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3566160"/>
                <a:gridCol w="2743200"/>
                <a:gridCol w="265176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关联测试项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ppt测试项.md 的要求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本轮实际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P-1-2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以真实（或加延迟 mock）LLM 跑对照组，给出 LLM 耗时占比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仅零延迟 mock 组（14.70 ms）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数据缺失 · 待下一批次补测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P-3-2（Portkey）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须以生产量级样本（约 58 MB/天）单独记录一组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2 万行合成样本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数据缺失 · 生产量级结论不成立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P-3-2（两项）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 / 中 / 长三档解析时间分别成表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 10 万 / 5 万 / 2 万行分散记录，未按档成表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部分缺失 · 建议统一口径重测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P-3-3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10/50/100 qps 阶梯、持续 5 分钟、覆盖 200 / 慢响应 / 5xx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次短时突发（0.38 s，525 qps）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口径不一致 + 数据缺失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未记录被测代码 commit id 与主机 CPU / 内存 / 内核版本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数据缺失 · 建议补入 summary.json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5 项数据缺失，其中 3 项集中在性能类测试项——与「性能类用例密度偏低」是同一个成因。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历史批次失败项分布与闭环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风险 · 结论 · 建议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7-2　历史批次（2026-09-17 17:21）失败项分布：3 条失败集中在注册表降级容错（不并入本轮统计）　｜　原图：figures/fig_18_history_failures.png</a:t>
            </a:r>
            <a:endParaRPr lang="en-US" sz="1050" dirty="0"/>
          </a:p>
        </p:txBody>
      </p:sp>
      <p:pic>
        <p:nvPicPr>
          <p:cNvPr id="10" name="Image 0" descr="/home/hx/jjq/clawAVC/figures/fig_18_history_fail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6474"/>
            <a:ext cx="11064240" cy="41021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条失败集中同一技术面：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注册表缺失 / 非法内容时未降级而直接抛异常。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本轮同名用例全部 PASS：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与「09-17 已修复 core 注册表降级容错」相互印证。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不绘趋势图的原因：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历史批次未记录用例总数，无法计算其通过率。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本轮失败项凭证（三处一致）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风险 · 结论 · 建议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7-1　本轮失败项凭证 —— 测试失败报告 / summary.json / run.log 三处独立来源一致　｜　原图：figures/fig_45_terminal_failure_report.png</a:t>
            </a:r>
            <a:endParaRPr lang="en-US" sz="1050" dirty="0"/>
          </a:p>
        </p:txBody>
      </p:sp>
      <p:pic>
        <p:nvPicPr>
          <p:cNvPr id="10" name="Image 0" descr="/home/hx/jjq/clawAVC/figures/fig_45_terminal_failure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9176"/>
            <a:ext cx="11064240" cy="30767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三处独立来源完全一致：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可排除单一文件写错导致的误判。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 / 118 / 0 / 0：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 / pass / fail / skip 四项字段值。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5504688"/>
            <a:ext cx="35661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5504688"/>
            <a:ext cx="64008" cy="7315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5559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无失败堆栈可供分析：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故本轮不绘制失败分布图，改以历史批次作对照。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风险 · 结论 · 建议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25296"/>
            <a:ext cx="384048" cy="384048"/>
          </a:xfrm>
          <a:prstGeom prst="ellipse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17043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执行结论：通过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1499616"/>
            <a:ext cx="105156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 118 条用例全部通过，失败 0、跳过 0，总通过率 100.0%；整轮耗时 9.99 s。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215798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覆盖结论：编号全覆盖，设计条件未逐条核验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487168"/>
            <a:ext cx="105156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个唯一编号全部有实测记录；但 33 条为补充用例，不做「细分条目均已覆盖」的外推。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1455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性能结论：优于门槛，两项口径待补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3474720"/>
            <a:ext cx="105156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延迟类余量 6.8× ～ 38.5×，吞吐类均超 2 万行/秒；P-1-2（真实 LLM 对照组）与 P-3-3（阶梯压测）标注为需进一步验证。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384048" cy="384048"/>
          </a:xfrm>
          <a:prstGeom prst="ellipse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41330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安全结论：核心语义成立，但存在高危 fail-open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4462272"/>
            <a:ext cx="105156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静态策略优先、采集防篡改、四维判定与六类对抗样本识别均通过；R-2-1 的 fail-open 不记为安全通过。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75504"/>
            <a:ext cx="384048" cy="384048"/>
          </a:xfrm>
          <a:prstGeom prst="ellipse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" y="51206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质量趋势：历史缺陷已闭环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5449824"/>
            <a:ext cx="105156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2026-09-17 批次 3 条注册表降级容错失败用例本轮全部转为 PASS，回归有效。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后续建议与闭环计划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风险 · 结论 · 建议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503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对应风险 / 缺失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将 _action_allowed 的空 allowed_actions 语义由 fail-open 改为 fail-close，或在 validate_ir 阶段拒绝 actions=[] 的 object，并补反向用例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补测 P-3-2 生产量级 Portkey 样本（约 58 MB/天）并单独成表；按统一短 / 中 / 长三档口径重测两类日志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D2、D3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ppt 口径重做 P-3-3：10/50/100 qps 阶梯、持续 5 分钟、覆盖 200 / 慢响应 / 5xx，统计成功率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 build_actions_from_trajectory 增加 Anthropic tool_use 解析，并把缺口固化断言翻转为能力验证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shell_command_semantics 中补齐 tee 的写行为推导，与 F-2-6 写类枚举对齐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扩充 S-2-1 良性对照集至具备统计效力（建议 ≥30 个正常开发任务样本），重新给出误报率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**下一批次**：增设 P-1-2 真实 / 加延迟 LLM 对照组，量化 LLM 环节耗时占比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**下一批次**：用真实 OpenClaw 会话日志替换构造样本复跑 F-3-3 解析，统计解析成功率与脏行比例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真实性缺口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 S-2-1 维度口径（文档「三维」与代码「四维」），以代码为准修订 ppt测试项.md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增强 _extract_json 对「夹带文字 + 尾随逗号」组合形态的容错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扩充覆盖薄弱格：S-1-1（2 条）、P-3-3（1 条）、P-1-1 / P-1-2 / P-2-1（各 2 条）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6.1、6.2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run_tests.py 中记录 commit id 与主机环境并写入 summary.json；每轮执行前清空 test/results/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D5、7.4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A：23 个测试项与用例一览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91440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46120"/>
                <a:gridCol w="59436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测试项名称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F-1-1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策略知识库加载与角色重载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F-1-2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Level-1 场景分类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F-1-3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Level-2 IR 生成与归一化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F-1-4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IR 校验规则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F-1-5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两阶段翻译结果准确性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P-1-1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注册表加载与热重载耗时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P-1-2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翻译链路处理耗时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S-1-1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正确拦截处理静态策略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R-1-1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输出解析鲁棒性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R-1-2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注册表缺失与非法内容降级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F-3-3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OpenClaw 会话日志解析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F-3-4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Portkey 网关日志解析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34440"/>
          <a:ext cx="91440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46120"/>
                <a:gridCol w="59436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测试项名称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F-3-9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信息上报链路完整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P-3-2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OpenClaw 日志扫描吞吐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3*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P-3-2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Portkey 网关日志扫描吞吐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P-3-3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信息上报接口 qps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S-3-1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采集是否防篡改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R-3-2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日志轮转、截断容错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R-3-4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异常不阻塞监控主流程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F-2-5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判定序列化与数据上报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F-2-6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Shell 命令语义转义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P-2-1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单轮分层判定耗时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S-2-1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分层判定结构与评分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619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R-2-1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 actions 的 fail-open 语义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23 个编号状态为「通过」；带「（…）」标注者为通过但存在缺口 / 数据缺失 / 口径不一致（详见报告第 7 章）。P-3-2 两个标题共享 3 条用例。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02336"/>
            <a:ext cx="73152" cy="493776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2918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B：数据来源与可追溯性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6309360"/>
            <a:ext cx="11064240" cy="13716"/>
          </a:xfrm>
          <a:prstGeom prst="rect">
            <a:avLst/>
          </a:prstGeom>
          <a:solidFill>
            <a:srgbClr val="E4DED4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373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2026-09-20 离线回归批次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49840" y="6373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  <a:gridCol w="30175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9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ppt测试项.md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测试项定义清单（唯一权威，24 标题 / 23 编号）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1、3 章及全篇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test/results/summary.json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用例级结构化结果，118 条 records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2、3、4、5、6、7 章及 15 张统计图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test/results/run.log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unittest 原始输出，末行 Ran 118 tests in 9.985s / 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3、4、7 章及 31 张终端图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test/results/perf.log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性能实测值（批次 2026-09-20 11:19:53，13 行）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3、4、5 章性能数字出处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test/results/screenshot_01/02/03.png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终端总览、用例明细（本批次）与历史失败截图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 2-2、3-2、7-2、7-3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test/run_tests.py · helpers.py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执行入口与共享工具（OBSERVATIONS、temp_db、mock_llm）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2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1.4、7.4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7091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709160"/>
            <a:ext cx="64008" cy="8686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47640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本轮共 47 张图：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终端结果图 32 张（逐测试项、不抽样）+ 统计图 15 张。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97680" y="47091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4709160"/>
            <a:ext cx="64008" cy="8686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17136" y="47640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逐测试项原图：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张终端图见报告 4.1.1 ～ 4.3.5 节，每条用例全部列出。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47091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4709160"/>
            <a:ext cx="64008" cy="8686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66176" y="47640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62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一键复现：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scripts/render_all.py，脚本头注明数据来源文件。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A6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敬请批评指正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60120" y="3794760"/>
            <a:ext cx="16459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ClawAVC 用户态自动化测试汇报 · 离线批次 · 2026-09-20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A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完整明细见 测试报告.md · test/results/测试报告.md ｜ 下一批次：真实 LLM 与网页端到端验证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ClawAVC 用户态自动化测试汇报（离线批次）</dc:title>
  <dc:subject>PptxGenJS Presentation</dc:subject>
  <dc:creator>ClawAVC</dc:creator>
  <cp:lastModifiedBy>ClawAVC</cp:lastModifiedBy>
  <cp:revision>1</cp:revision>
  <dcterms:created xsi:type="dcterms:W3CDTF">2026-09-20T12:30:46Z</dcterms:created>
  <dcterms:modified xsi:type="dcterms:W3CDTF">2026-09-20T12:30:46Z</dcterms:modified>
</cp:coreProperties>
</file>